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595" r:id="rId5"/>
    <p:sldId id="256" r:id="rId6"/>
    <p:sldId id="592" r:id="rId7"/>
    <p:sldId id="593" r:id="rId8"/>
    <p:sldId id="596" r:id="rId9"/>
    <p:sldId id="598" r:id="rId19"/>
    <p:sldId id="599" r:id="rId20"/>
    <p:sldId id="597" r:id="rId10"/>
    <p:sldId id="600" r:id="rId21"/>
    <p:sldId id="26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FBC"/>
    <a:srgbClr val="8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430D44-56A4-7C30-D1D8-A262EF8D1BE7}" v="173" dt="2026-01-27T12:37:53.892"/>
    <p1510:client id="{1C495277-CB8F-7127-D933-9BAFE4AD5085}" v="10" dt="2026-01-27T12:39:56.956"/>
    <p1510:client id="{2594185B-1143-4EA8-90AA-9E7D3AF1EF88}" v="1" dt="2026-01-27T12:44:08.975"/>
    <p1510:client id="{BCE88CFD-5210-4C79-8A23-4759FA6606F0}" v="1" dt="2026-01-27T11:15:10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48" d="100"/>
          <a:sy n="48" d="100"/>
        </p:scale>
        <p:origin x="2752" y="32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6E780A-764A-5221-31C3-1648CC9E921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03C028-40D8-C8B0-2FC5-CF2E5BDC68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C442C-39B2-48CC-8196-D1C8570865E5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04433-BF8F-7164-E529-8704CE089C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E62101-781A-EC32-4F46-83CE2BC003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827D9-2D40-41FE-A473-07CE76D472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7298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38CAC-9E97-487C-B68D-4DF8EE44AFAC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58117-0F41-4C88-A5CD-1CEC88FB18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720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61975-8350-57EC-CA7B-AB90DC7B8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285B57-CEC7-58FB-44C4-DE1955AAB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E4663-E88F-6D99-9DD7-E421FBA66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4F3A5-BDD7-0EE0-4852-830910015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0388A9-063E-498D-965B-95EF6D5455F4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579995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444" y="175248"/>
            <a:ext cx="6808304" cy="625202"/>
          </a:xfrm>
        </p:spPr>
        <p:txBody>
          <a:bodyPr/>
          <a:lstStyle>
            <a:lvl1pPr algn="l">
              <a:defRPr sz="2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2220"/>
            <a:ext cx="8229600" cy="5013944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CFC8A5-08FD-1B11-64D1-0EC39F7AF75C}"/>
              </a:ext>
            </a:extLst>
          </p:cNvPr>
          <p:cNvCxnSpPr/>
          <p:nvPr userDrawn="1"/>
        </p:nvCxnSpPr>
        <p:spPr>
          <a:xfrm>
            <a:off x="347870" y="824948"/>
            <a:ext cx="8428382" cy="0"/>
          </a:xfrm>
          <a:prstGeom prst="line">
            <a:avLst/>
          </a:prstGeom>
          <a:ln w="28575">
            <a:solidFill>
              <a:srgbClr val="80008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74F5284-ACEE-A329-6CB7-3B34C8614C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25748" y="113875"/>
            <a:ext cx="1550504" cy="66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BF4CD-88A1-8809-D7A0-929FF72DD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D05411-FCFE-C20C-1833-A2DDD731173D}"/>
              </a:ext>
            </a:extLst>
          </p:cNvPr>
          <p:cNvCxnSpPr/>
          <p:nvPr/>
        </p:nvCxnSpPr>
        <p:spPr>
          <a:xfrm>
            <a:off x="5279572" y="1458684"/>
            <a:ext cx="3026230" cy="0"/>
          </a:xfrm>
          <a:prstGeom prst="line">
            <a:avLst/>
          </a:prstGeom>
          <a:ln>
            <a:solidFill>
              <a:srgbClr val="003F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8CE661AC-8933-67E4-2B86-43D85A02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1486" y="1944256"/>
            <a:ext cx="4216495" cy="2055088"/>
          </a:xfrm>
        </p:spPr>
        <p:txBody>
          <a:bodyPr vert="horz" lIns="137160" tIns="68580" rIns="137160" bIns="68580" rtlCol="0" anchor="b">
            <a:normAutofit fontScale="90000"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Weekly Deep Dive Meeting</a:t>
            </a:r>
            <a:br>
              <a:rPr lang="en-US" sz="2800" b="1" dirty="0">
                <a:solidFill>
                  <a:srgbClr val="002060"/>
                </a:solidFill>
              </a:rPr>
            </a:br>
            <a:r>
              <a:rPr lang="en-US" sz="2800" b="1" dirty="0">
                <a:solidFill>
                  <a:srgbClr val="002060"/>
                </a:solidFill>
              </a:rPr>
              <a:t>TechLink</a:t>
            </a:r>
            <a:br>
              <a:rPr lang="en-US" sz="2800" b="1" dirty="0">
                <a:solidFill>
                  <a:srgbClr val="002060"/>
                </a:solidFill>
              </a:rPr>
            </a:br>
            <a:r>
              <a:rPr lang="en-US" sz="2800" b="1" dirty="0">
                <a:solidFill>
                  <a:srgbClr val="002060"/>
                </a:solidFill>
              </a:rPr>
              <a:t xml:space="preserve"> </a:t>
            </a:r>
            <a:br>
              <a:rPr lang="en-US" sz="2800" b="1" dirty="0">
                <a:solidFill>
                  <a:srgbClr val="002060"/>
                </a:solidFill>
              </a:rPr>
            </a:br>
            <a:r>
              <a:rPr lang="en-US" sz="2800" b="1" dirty="0">
                <a:solidFill>
                  <a:srgbClr val="0070C0"/>
                </a:solidFill>
              </a:rPr>
              <a:t>Week – 5 (2026-2027)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C7E8B6-5C4D-9BCA-819C-037273D9F989}"/>
              </a:ext>
            </a:extLst>
          </p:cNvPr>
          <p:cNvSpPr txBox="1">
            <a:spLocks/>
          </p:cNvSpPr>
          <p:nvPr/>
        </p:nvSpPr>
        <p:spPr>
          <a:xfrm>
            <a:off x="4386943" y="5976257"/>
            <a:ext cx="4641038" cy="551117"/>
          </a:xfrm>
          <a:prstGeom prst="rect">
            <a:avLst/>
          </a:prstGeom>
        </p:spPr>
        <p:txBody>
          <a:bodyPr vert="horz" lIns="137160" tIns="68580" rIns="137160" bIns="6858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400" b="1" dirty="0">
                <a:solidFill>
                  <a:srgbClr val="002060"/>
                </a:solidFill>
              </a:rPr>
              <a:t>Meeting Date – 28/01/2026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D617AC-E3E6-6648-447B-E0F54087C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974772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B72C6E-D7EB-754D-221B-EF2359743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0856" y="159950"/>
            <a:ext cx="2914945" cy="125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059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DBB31A-D46D-215A-0FF5-3B55FEC79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7C10B6-7C92-5A20-2CE5-5200E34700CD}"/>
              </a:ext>
            </a:extLst>
          </p:cNvPr>
          <p:cNvSpPr txBox="1"/>
          <p:nvPr/>
        </p:nvSpPr>
        <p:spPr>
          <a:xfrm>
            <a:off x="417444" y="1705451"/>
            <a:ext cx="8479971" cy="40318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lvl="0" indent="-342900">
              <a:buFont typeface="Aptos"/>
              <a:buAutoNum type="arabicPeriod"/>
              <a:tabLst>
                <a:tab pos="457200" algn="l"/>
              </a:tabLst>
            </a:pPr>
            <a:r>
              <a:rPr lang="en-US" sz="2000" dirty="0">
                <a:latin typeface="Aptos" panose="020B0004020202020204" pitchFamily="34" charset="0"/>
                <a:cs typeface="Aptos" panose="020B0004020202020204" pitchFamily="34" charset="0"/>
              </a:rPr>
              <a:t>Project Summary &amp; Updates</a:t>
            </a:r>
          </a:p>
          <a:p>
            <a:pPr marL="342900" lvl="0" indent="-342900">
              <a:buFont typeface="Aptos"/>
              <a:buAutoNum type="arabicPeriod"/>
              <a:tabLst>
                <a:tab pos="457200" algn="l"/>
              </a:tabLst>
            </a:pPr>
            <a:r>
              <a:rPr lang="en-US" sz="2000" dirty="0">
                <a:latin typeface="Aptos" panose="020B0004020202020204" pitchFamily="34" charset="0"/>
                <a:cs typeface="Aptos" panose="020B0004020202020204" pitchFamily="34" charset="0"/>
              </a:rPr>
              <a:t>Observations &amp; Findings</a:t>
            </a:r>
          </a:p>
          <a:p>
            <a:pPr marL="342900" lvl="0" indent="-342900">
              <a:buFont typeface="Aptos"/>
              <a:buAutoNum type="arabicPeriod"/>
              <a:tabLst>
                <a:tab pos="457200" algn="l"/>
              </a:tabLst>
            </a:pPr>
            <a:r>
              <a:rPr lang="en-US" sz="2000" dirty="0">
                <a:latin typeface="Aptos" panose="020B0004020202020204" pitchFamily="34" charset="0"/>
                <a:cs typeface="Aptos" panose="020B0004020202020204" pitchFamily="34" charset="0"/>
              </a:rPr>
              <a:t>Risks &amp; Dependencies</a:t>
            </a:r>
          </a:p>
          <a:p>
            <a:pPr marL="342900" lvl="0" indent="-342900">
              <a:buFont typeface="Aptos"/>
              <a:buAutoNum type="arabicPeriod"/>
              <a:tabLst>
                <a:tab pos="457200" algn="l"/>
              </a:tabLst>
            </a:pPr>
            <a:r>
              <a:rPr lang="en-US" sz="2000" dirty="0">
                <a:latin typeface="Aptos" panose="020B0004020202020204" pitchFamily="34" charset="0"/>
                <a:cs typeface="Aptos" panose="020B0004020202020204" pitchFamily="34" charset="0"/>
              </a:rPr>
              <a:t>Current Focus Areas &amp; Status</a:t>
            </a:r>
          </a:p>
          <a:p>
            <a:pPr marL="342900" lvl="0" indent="-342900">
              <a:buFont typeface="Aptos"/>
              <a:buAutoNum type="arabicPeriod"/>
              <a:tabLst>
                <a:tab pos="457200" algn="l"/>
              </a:tabLst>
            </a:pPr>
            <a:r>
              <a:rPr lang="en-US" sz="2000" dirty="0">
                <a:latin typeface="Aptos" panose="020B0004020202020204" pitchFamily="34" charset="0"/>
                <a:cs typeface="Aptos" panose="020B0004020202020204" pitchFamily="34" charset="0"/>
              </a:rPr>
              <a:t>Previous &amp; New Action Items</a:t>
            </a:r>
          </a:p>
          <a:p>
            <a:pPr marL="342900" lvl="0" indent="-342900">
              <a:buFont typeface="Aptos"/>
              <a:buAutoNum type="arabicPeriod"/>
              <a:tabLst>
                <a:tab pos="457200" algn="l"/>
              </a:tabLst>
            </a:pPr>
            <a:r>
              <a:rPr lang="en-US" sz="2000" dirty="0">
                <a:latin typeface="Aptos" panose="020B0004020202020204" pitchFamily="34" charset="0"/>
                <a:cs typeface="Aptos" panose="020B0004020202020204" pitchFamily="34" charset="0"/>
              </a:rPr>
              <a:t>Wrap-Up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4414-FFF1-F035-1DE2-314F3D032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0CE7AC-E301-3554-0A2A-C1948299C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Project Summary &amp; Updates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95E668-1D9B-A45B-DD52-D4E99CD8FD77}"/>
              </a:ext>
            </a:extLst>
          </p:cNvPr>
          <p:cNvSpPr txBox="1"/>
          <p:nvPr/>
        </p:nvSpPr>
        <p:spPr>
          <a:xfrm>
            <a:off x="417444" y="104371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Gani Properties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86A524-69EF-DC0A-57EB-5C9F9DE555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03492"/>
              </p:ext>
            </p:extLst>
          </p:nvPr>
        </p:nvGraphicFramePr>
        <p:xfrm>
          <a:off x="305849" y="1511934"/>
          <a:ext cx="8650864" cy="498432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325432">
                  <a:extLst>
                    <a:ext uri="{9D8B030D-6E8A-4147-A177-3AD203B41FA5}">
                      <a16:colId xmlns:a16="http://schemas.microsoft.com/office/drawing/2014/main" val="607758309"/>
                    </a:ext>
                  </a:extLst>
                </a:gridCol>
                <a:gridCol w="4325432">
                  <a:extLst>
                    <a:ext uri="{9D8B030D-6E8A-4147-A177-3AD203B41FA5}">
                      <a16:colId xmlns:a16="http://schemas.microsoft.com/office/drawing/2014/main" val="2061753038"/>
                    </a:ext>
                  </a:extLst>
                </a:gridCol>
              </a:tblGrid>
              <a:tr h="303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effectLst/>
                        </a:rPr>
                        <a:t>Category</a:t>
                      </a:r>
                      <a:endParaRPr lang="en-US" sz="150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effectLst/>
                        </a:rPr>
                        <a:t>Details</a:t>
                      </a:r>
                      <a:endParaRPr lang="en-US" sz="1500" dirty="0">
                        <a:effectLst/>
                      </a:endParaRP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85695759"/>
                  </a:ext>
                </a:extLst>
              </a:tr>
              <a:tr h="791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effectLst/>
                        </a:rPr>
                        <a:t>Overall Project Status</a:t>
                      </a:r>
                      <a:endParaRPr lang="en-US" sz="150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It’s a business property Website which showcases business models along with property ingestion.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397791754"/>
                  </a:ext>
                </a:extLst>
              </a:tr>
              <a:tr h="531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effectLst/>
                        </a:rPr>
                        <a:t>Current Phase</a:t>
                      </a:r>
                      <a:endParaRPr lang="en-US" sz="150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Website completed ready for Deployment.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737995774"/>
                  </a:ext>
                </a:extLst>
              </a:tr>
              <a:tr h="303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effectLst/>
                        </a:rPr>
                        <a:t>Project Start Date</a:t>
                      </a:r>
                      <a:endParaRPr lang="en-US" sz="150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1st December 2025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612693360"/>
                  </a:ext>
                </a:extLst>
              </a:tr>
              <a:tr h="3038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effectLst/>
                        </a:rPr>
                        <a:t>Planned End Date</a:t>
                      </a:r>
                      <a:endParaRPr lang="en-US" sz="150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28th December 2025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568694084"/>
                  </a:ext>
                </a:extLst>
              </a:tr>
              <a:tr h="9875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effectLst/>
                        </a:rPr>
                        <a:t>Key Milestones Achieved</a:t>
                      </a:r>
                      <a:endParaRPr lang="en-US" sz="150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Property ingestion pipeline made.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15995195"/>
                  </a:ext>
                </a:extLst>
              </a:tr>
              <a:tr h="1223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effectLst/>
                        </a:rPr>
                        <a:t>Recent Progress (This Week)</a:t>
                      </a:r>
                      <a:endParaRPr lang="en-US" sz="150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500">
                          <a:effectLst/>
                        </a:rPr>
                        <a:t>Completed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045126054"/>
                  </a:ext>
                </a:extLst>
              </a:tr>
              <a:tr h="531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effectLst/>
                        </a:rPr>
                        <a:t>Key Risks</a:t>
                      </a:r>
                      <a:endParaRPr lang="en-US" sz="150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</a:rPr>
                        <a:t>None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903510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0937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ECCDA-63A7-011C-4D5D-0D0A175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8D0DE3-6D06-15F8-DEE0-43802B3A7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Project Summary &amp; Updates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032DDF-99A3-EFDB-C414-D058EBE20C07}"/>
              </a:ext>
            </a:extLst>
          </p:cNvPr>
          <p:cNvSpPr txBox="1"/>
          <p:nvPr/>
        </p:nvSpPr>
        <p:spPr>
          <a:xfrm>
            <a:off x="522514" y="1110343"/>
            <a:ext cx="2677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Testlabs</a:t>
            </a:r>
            <a:endParaRPr lang="en-US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372CE4B-5B25-96DD-16CC-41541BFAE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248456"/>
              </p:ext>
            </p:extLst>
          </p:nvPr>
        </p:nvGraphicFramePr>
        <p:xfrm>
          <a:off x="261781" y="1575323"/>
          <a:ext cx="8650866" cy="50549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325433">
                  <a:extLst>
                    <a:ext uri="{9D8B030D-6E8A-4147-A177-3AD203B41FA5}">
                      <a16:colId xmlns:a16="http://schemas.microsoft.com/office/drawing/2014/main" val="607758309"/>
                    </a:ext>
                  </a:extLst>
                </a:gridCol>
                <a:gridCol w="4325433">
                  <a:extLst>
                    <a:ext uri="{9D8B030D-6E8A-4147-A177-3AD203B41FA5}">
                      <a16:colId xmlns:a16="http://schemas.microsoft.com/office/drawing/2014/main" val="2061753038"/>
                    </a:ext>
                  </a:extLst>
                </a:gridCol>
              </a:tblGrid>
              <a:tr h="308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effectLst/>
                        </a:rPr>
                        <a:t>Category</a:t>
                      </a:r>
                      <a:endParaRPr lang="en-US" sz="1500" dirty="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effectLst/>
                        </a:rPr>
                        <a:t>Details</a:t>
                      </a:r>
                      <a:endParaRPr lang="en-US" sz="1500" dirty="0">
                        <a:effectLst/>
                      </a:endParaRP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85695759"/>
                  </a:ext>
                </a:extLst>
              </a:tr>
              <a:tr h="803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effectLst/>
                        </a:rPr>
                        <a:t>Overall Project Status</a:t>
                      </a:r>
                      <a:endParaRPr lang="en-US" sz="1500" dirty="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</a:rPr>
                        <a:t xml:space="preserve">It’s a static website for products under business model of </a:t>
                      </a:r>
                      <a:r>
                        <a:rPr lang="en-US" sz="1500" dirty="0" err="1">
                          <a:effectLst/>
                        </a:rPr>
                        <a:t>Testlabs</a:t>
                      </a:r>
                      <a:r>
                        <a:rPr lang="en-US" sz="1500" dirty="0">
                          <a:effectLst/>
                        </a:rPr>
                        <a:t>.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397791754"/>
                  </a:ext>
                </a:extLst>
              </a:tr>
              <a:tr h="54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effectLst/>
                        </a:rPr>
                        <a:t>Current Phase</a:t>
                      </a:r>
                      <a:endParaRPr lang="en-US" sz="1500" dirty="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</a:rPr>
                        <a:t>Website completed ready for Deployment.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737995774"/>
                  </a:ext>
                </a:extLst>
              </a:tr>
              <a:tr h="308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effectLst/>
                        </a:rPr>
                        <a:t>Project Start Date</a:t>
                      </a:r>
                      <a:endParaRPr lang="en-US" sz="1500" dirty="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</a:rPr>
                        <a:t>1st September 2025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612693360"/>
                  </a:ext>
                </a:extLst>
              </a:tr>
              <a:tr h="308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effectLst/>
                        </a:rPr>
                        <a:t>Planned End Date</a:t>
                      </a:r>
                      <a:endParaRPr lang="en-US" sz="1500" dirty="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</a:rPr>
                        <a:t>1st October 2025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568694084"/>
                  </a:ext>
                </a:extLst>
              </a:tr>
              <a:tr h="1003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effectLst/>
                        </a:rPr>
                        <a:t>Key Milestones Achieved</a:t>
                      </a:r>
                      <a:endParaRPr lang="en-US" sz="1500" dirty="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</a:rPr>
                        <a:t>As new to Web development Website is Interactive, Immersive &amp; Production Grade.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15995195"/>
                  </a:ext>
                </a:extLst>
              </a:tr>
              <a:tr h="12423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effectLst/>
                        </a:rPr>
                        <a:t>Recent Progress (This Week)</a:t>
                      </a:r>
                      <a:endParaRPr lang="en-US" sz="1500" dirty="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500" dirty="0">
                          <a:effectLst/>
                        </a:rPr>
                        <a:t>Completed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045126054"/>
                  </a:ext>
                </a:extLst>
              </a:tr>
              <a:tr h="54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effectLst/>
                        </a:rPr>
                        <a:t>Key Risks</a:t>
                      </a:r>
                      <a:endParaRPr lang="en-US" sz="1500" dirty="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</a:rPr>
                        <a:t>AWS Procurement pending.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903510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8435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A2B35-75FE-5F30-399F-F3E175427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B3ACB61-ADFF-443A-7B2D-7B0FE06D1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Project Summary &amp; Updates</a:t>
            </a:r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0E468A-B484-8B53-80EF-8246EF399EA2}"/>
              </a:ext>
            </a:extLst>
          </p:cNvPr>
          <p:cNvSpPr txBox="1"/>
          <p:nvPr/>
        </p:nvSpPr>
        <p:spPr>
          <a:xfrm>
            <a:off x="522514" y="1110343"/>
            <a:ext cx="2677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Techlink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3B81A5-E26F-84D0-4997-FCB981636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295512"/>
              </p:ext>
            </p:extLst>
          </p:nvPr>
        </p:nvGraphicFramePr>
        <p:xfrm>
          <a:off x="198304" y="1575323"/>
          <a:ext cx="8736376" cy="50549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368188">
                  <a:extLst>
                    <a:ext uri="{9D8B030D-6E8A-4147-A177-3AD203B41FA5}">
                      <a16:colId xmlns:a16="http://schemas.microsoft.com/office/drawing/2014/main" val="607758309"/>
                    </a:ext>
                  </a:extLst>
                </a:gridCol>
                <a:gridCol w="4368188">
                  <a:extLst>
                    <a:ext uri="{9D8B030D-6E8A-4147-A177-3AD203B41FA5}">
                      <a16:colId xmlns:a16="http://schemas.microsoft.com/office/drawing/2014/main" val="2061753038"/>
                    </a:ext>
                  </a:extLst>
                </a:gridCol>
              </a:tblGrid>
              <a:tr h="308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effectLst/>
                        </a:rPr>
                        <a:t>Category</a:t>
                      </a:r>
                      <a:endParaRPr lang="en-US" sz="1500" dirty="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effectLst/>
                        </a:rPr>
                        <a:t>Details</a:t>
                      </a:r>
                      <a:endParaRPr lang="en-US" sz="1500" dirty="0">
                        <a:effectLst/>
                      </a:endParaRP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85695759"/>
                  </a:ext>
                </a:extLst>
              </a:tr>
              <a:tr h="803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effectLst/>
                        </a:rPr>
                        <a:t>Overall Project Status</a:t>
                      </a:r>
                      <a:endParaRPr lang="en-US" sz="1500" dirty="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effectLst/>
                        </a:rPr>
                        <a:t>Contents gathered and started working</a:t>
                      </a:r>
                    </a:p>
                    <a:p>
                      <a:pPr>
                        <a:buNone/>
                      </a:pPr>
                      <a:endParaRPr lang="en-US" sz="1500" dirty="0">
                        <a:effectLst/>
                      </a:endParaRP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397791754"/>
                  </a:ext>
                </a:extLst>
              </a:tr>
              <a:tr h="54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effectLst/>
                        </a:rPr>
                        <a:t>Current Phase</a:t>
                      </a:r>
                      <a:endParaRPr lang="en-US" sz="1500" dirty="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</a:rPr>
                        <a:t>Collecting Information.</a:t>
                      </a:r>
                      <a:br>
                        <a:rPr lang="en-US" sz="1500" dirty="0">
                          <a:effectLst/>
                        </a:rPr>
                      </a:br>
                      <a:r>
                        <a:rPr lang="en-US" sz="1500" dirty="0">
                          <a:effectLst/>
                        </a:rPr>
                        <a:t>First Draft is ready.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737995774"/>
                  </a:ext>
                </a:extLst>
              </a:tr>
              <a:tr h="308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effectLst/>
                        </a:rPr>
                        <a:t>Project Start Date</a:t>
                      </a:r>
                      <a:endParaRPr lang="en-US" sz="1500" dirty="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</a:rPr>
                        <a:t>22nd December 2025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612693360"/>
                  </a:ext>
                </a:extLst>
              </a:tr>
              <a:tr h="308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effectLst/>
                        </a:rPr>
                        <a:t>Planned End Date</a:t>
                      </a:r>
                      <a:endParaRPr lang="en-US" sz="1500" dirty="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</a:rPr>
                        <a:t>25th January 2026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568694084"/>
                  </a:ext>
                </a:extLst>
              </a:tr>
              <a:tr h="10030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effectLst/>
                        </a:rPr>
                        <a:t>Key Milestones Achieved</a:t>
                      </a:r>
                      <a:endParaRPr lang="en-US" sz="1500" dirty="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</a:rPr>
                        <a:t>First Draft Ready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15995195"/>
                  </a:ext>
                </a:extLst>
              </a:tr>
              <a:tr h="12423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effectLst/>
                        </a:rPr>
                        <a:t>Recent Progress (This Week)</a:t>
                      </a:r>
                      <a:endParaRPr lang="en-US" sz="1500" dirty="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500" dirty="0">
                          <a:effectLst/>
                        </a:rPr>
                        <a:t>Started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1045126054"/>
                  </a:ext>
                </a:extLst>
              </a:tr>
              <a:tr h="54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effectLst/>
                        </a:rPr>
                        <a:t>Key Risks</a:t>
                      </a:r>
                      <a:endParaRPr lang="en-US" sz="1500" dirty="0">
                        <a:effectLst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Content Pending, AWS Procurement Pending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903510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3999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13C08-1732-3E93-46B6-A17D611E0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Current Focus Areas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AFAD9-69C3-506C-16DF-2E125DEFD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Admission Management System (Current)</a:t>
            </a:r>
            <a:endParaRPr lang="en-US" dirty="0"/>
          </a:p>
          <a:p>
            <a:r>
              <a:rPr lang="en-US" dirty="0"/>
              <a:t>Website system for colleges and universities</a:t>
            </a:r>
          </a:p>
          <a:p>
            <a:r>
              <a:rPr lang="en-US" dirty="0"/>
              <a:t>Online student applications and admin management</a:t>
            </a:r>
          </a:p>
          <a:p>
            <a:r>
              <a:rPr lang="en-US" dirty="0"/>
              <a:t>Colleges from India and other countries</a:t>
            </a:r>
          </a:p>
          <a:p>
            <a:r>
              <a:rPr lang="en-US" b="1" dirty="0"/>
              <a:t>University and college data collection almost complete</a:t>
            </a:r>
            <a:br>
              <a:rPr lang="en-US" dirty="0"/>
            </a:br>
            <a:r>
              <a:rPr lang="en-US" b="1" dirty="0"/>
              <a:t>Status:</a:t>
            </a:r>
            <a:r>
              <a:rPr lang="en-US" dirty="0"/>
              <a:t xml:space="preserve"> In Progress</a:t>
            </a:r>
          </a:p>
          <a:p>
            <a:endParaRPr lang="en-US" dirty="0"/>
          </a:p>
          <a:p>
            <a:r>
              <a:rPr lang="en-US" b="1" dirty="0"/>
              <a:t>Indian Startup Website Services (Planned)</a:t>
            </a:r>
            <a:endParaRPr lang="en-US" dirty="0"/>
          </a:p>
          <a:p>
            <a:r>
              <a:rPr lang="en-US" dirty="0"/>
              <a:t>Website development for Indian startups</a:t>
            </a:r>
          </a:p>
          <a:p>
            <a:r>
              <a:rPr lang="en-US" dirty="0"/>
              <a:t>Simple, modern, and mobile-friendly websites</a:t>
            </a:r>
          </a:p>
          <a:p>
            <a:r>
              <a:rPr lang="en-US" b="1" dirty="0"/>
              <a:t>GEO-based websites to target specific cities and regions in India</a:t>
            </a:r>
            <a:endParaRPr lang="en-US" dirty="0"/>
          </a:p>
          <a:p>
            <a:r>
              <a:rPr lang="en-US" dirty="0"/>
              <a:t>Helping startups build online presence and trust</a:t>
            </a:r>
            <a:br>
              <a:rPr lang="en-US" dirty="0"/>
            </a:br>
            <a:r>
              <a:rPr lang="en-US" b="1" dirty="0"/>
              <a:t>Status:</a:t>
            </a:r>
            <a:r>
              <a:rPr lang="en-US" dirty="0"/>
              <a:t xml:space="preserve"> Planned (Not Started Yet)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3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8DD17-D356-F713-6537-545A69702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19CA4-E473-5EEF-3E02-70BEEEE7E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4321" y="2815760"/>
            <a:ext cx="2935357" cy="625202"/>
          </a:xfrm>
        </p:spPr>
        <p:txBody>
          <a:bodyPr>
            <a:normAutofit/>
          </a:bodyPr>
          <a:lstStyle/>
          <a:p>
            <a:pPr algn="ctr"/>
            <a:r>
              <a:rPr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9908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13C08-1732-3E93-46B6-A17D611E0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Observations &amp; Findings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AFAD9-69C3-506C-16DF-2E125DEFD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Observations</a:t>
            </a:r>
            <a:endParaRPr lang="en-US" dirty="0"/>
          </a:p>
          <a:p>
            <a:r>
              <a:rPr lang="en-US" dirty="0"/>
              <a:t>All three projects (Gani Properties, Testlabs, Techlink) are progressing as planned</a:t>
            </a:r>
          </a:p>
          <a:p>
            <a:r>
              <a:rPr lang="en-US" dirty="0"/>
              <a:t>Gani Properties and Testlabs websites are complete and ready for deployment</a:t>
            </a:r>
          </a:p>
          <a:p>
            <a:r>
              <a:rPr lang="en-US" dirty="0"/>
              <a:t>Techlink website is in early stages — first draft ready, content collection ongoing</a:t>
            </a:r>
          </a:p>
          <a:p>
            <a:endParaRPr lang="en-US" dirty="0"/>
          </a:p>
          <a:p>
            <a:r>
              <a:rPr lang="en-US" b="1" dirty="0"/>
              <a:t>Findings</a:t>
            </a:r>
            <a:endParaRPr lang="en-US" dirty="0"/>
          </a:p>
          <a:p>
            <a:r>
              <a:rPr lang="en-US" dirty="0"/>
              <a:t>AWS procurement is a common blocker for Testlabs and Techlink deployments</a:t>
            </a:r>
          </a:p>
          <a:p>
            <a:r>
              <a:rPr lang="en-US" dirty="0"/>
              <a:t>Content gathering for Techlink is the primary bottleneck for project completion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3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13C08-1732-3E93-46B6-A17D611E0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Risks &amp; Dependencies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AFAD9-69C3-506C-16DF-2E125DEFD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Active Risks</a:t>
            </a:r>
            <a:endParaRPr lang="en-US" dirty="0"/>
          </a:p>
          <a:p>
            <a:r>
              <a:rPr lang="en-US" b="1" dirty="0"/>
              <a:t>AWS Procurement Pending</a:t>
            </a:r>
            <a:r>
              <a:rPr lang="en-US" dirty="0"/>
              <a:t xml:space="preserve"> — Testlabs and Techlink cannot be deployed until AWS accounts are provisioned</a:t>
            </a:r>
          </a:p>
          <a:p>
            <a:r>
              <a:rPr lang="en-US" b="1" dirty="0"/>
              <a:t>Content Pending (Techlink)</a:t>
            </a:r>
            <a:r>
              <a:rPr lang="en-US" dirty="0"/>
              <a:t xml:space="preserve"> — Website cannot be finalised until all content is provided by the client</a:t>
            </a:r>
          </a:p>
          <a:p>
            <a:endParaRPr lang="en-US" dirty="0"/>
          </a:p>
          <a:p>
            <a:r>
              <a:rPr lang="en-US" b="1" dirty="0"/>
              <a:t>Dependencies</a:t>
            </a:r>
            <a:endParaRPr lang="en-US" dirty="0"/>
          </a:p>
          <a:p>
            <a:r>
              <a:rPr lang="en-US" dirty="0"/>
              <a:t>Gani Properties — No blockers; deployment can proceed</a:t>
            </a:r>
          </a:p>
          <a:p>
            <a:r>
              <a:rPr lang="en-US" dirty="0"/>
              <a:t>Testlabs — Dependent on AWS procurement before go-live</a:t>
            </a:r>
          </a:p>
          <a:p>
            <a:r>
              <a:rPr lang="en-US" dirty="0"/>
              <a:t>Techlink — Dependent on content delivery and AWS procurement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3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13C08-1732-3E93-46B6-A17D611E0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Previous &amp; New Action Items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AFAD9-69C3-506C-16DF-2E125DEFD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Previous Action Items</a:t>
            </a:r>
            <a:endParaRPr lang="en-US" dirty="0"/>
          </a:p>
          <a:p>
            <a:r>
              <a:rPr lang="en-US" dirty="0"/>
              <a:t xml:space="preserve">Complete Gani Properties website — </a:t>
            </a:r>
            <a:r>
              <a:rPr lang="en-US" b="1" dirty="0"/>
              <a:t>Done</a:t>
            </a:r>
          </a:p>
          <a:p>
            <a:r>
              <a:rPr lang="en-US" dirty="0"/>
              <a:t xml:space="preserve">Complete Testlabs website — </a:t>
            </a:r>
            <a:r>
              <a:rPr lang="en-US" b="1" dirty="0"/>
              <a:t>Done</a:t>
            </a:r>
          </a:p>
          <a:p>
            <a:r>
              <a:rPr lang="en-US" dirty="0"/>
              <a:t xml:space="preserve">Prepare Techlink first draft — </a:t>
            </a:r>
            <a:r>
              <a:rPr lang="en-US" b="1" dirty="0"/>
              <a:t>Done</a:t>
            </a:r>
          </a:p>
          <a:p>
            <a:endParaRPr lang="en-US" dirty="0"/>
          </a:p>
          <a:p>
            <a:r>
              <a:rPr lang="en-US" b="1" dirty="0"/>
              <a:t>New Action Items</a:t>
            </a:r>
            <a:endParaRPr lang="en-US" dirty="0"/>
          </a:p>
          <a:p>
            <a:r>
              <a:rPr lang="en-US" dirty="0"/>
              <a:t>Follow up on AWS procurement for Testlabs and Techlink deployments</a:t>
            </a:r>
          </a:p>
          <a:p>
            <a:r>
              <a:rPr lang="en-US" dirty="0"/>
              <a:t>Collect remaining content for Techlink website from client</a:t>
            </a:r>
          </a:p>
          <a:p>
            <a:r>
              <a:rPr lang="en-US" dirty="0"/>
              <a:t>Begin university and college data collection for Admission Management System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3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4E4FED70BB7D4F88F21A6642BCD4C5" ma:contentTypeVersion="10" ma:contentTypeDescription="Create a new document." ma:contentTypeScope="" ma:versionID="d32329b8076ce0f049eb8b1aacd1fc54">
  <xsd:schema xmlns:xsd="http://www.w3.org/2001/XMLSchema" xmlns:xs="http://www.w3.org/2001/XMLSchema" xmlns:p="http://schemas.microsoft.com/office/2006/metadata/properties" xmlns:ns2="b1581ffd-c9bc-45ba-97a6-d136a74a1090" xmlns:ns3="5158dfb8-59ec-4fa1-9cac-77c30c18d8be" targetNamespace="http://schemas.microsoft.com/office/2006/metadata/properties" ma:root="true" ma:fieldsID="20b56502eb8b11de510080d2141995db" ns2:_="" ns3:_="">
    <xsd:import namespace="b1581ffd-c9bc-45ba-97a6-d136a74a1090"/>
    <xsd:import namespace="5158dfb8-59ec-4fa1-9cac-77c30c18d8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581ffd-c9bc-45ba-97a6-d136a74a10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65a41ef-5651-4d3d-9841-8342e8ec246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58dfb8-59ec-4fa1-9cac-77c30c18d8b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af5929c-86af-4b35-9051-001f2690ecb5}" ma:internalName="TaxCatchAll" ma:showField="CatchAllData" ma:web="5158dfb8-59ec-4fa1-9cac-77c30c18d8b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158dfb8-59ec-4fa1-9cac-77c30c18d8be" xsi:nil="true"/>
    <lcf76f155ced4ddcb4097134ff3c332f xmlns="b1581ffd-c9bc-45ba-97a6-d136a74a1090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CEA82F-CA38-4A60-9C36-500A72175B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581ffd-c9bc-45ba-97a6-d136a74a1090"/>
    <ds:schemaRef ds:uri="5158dfb8-59ec-4fa1-9cac-77c30c18d8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66ABA81-1B41-4FDD-AC2E-75550531B3D0}">
  <ds:schemaRefs>
    <ds:schemaRef ds:uri="http://schemas.microsoft.com/office/2006/metadata/properties"/>
    <ds:schemaRef ds:uri="http://schemas.microsoft.com/office/infopath/2007/PartnerControls"/>
    <ds:schemaRef ds:uri="5158dfb8-59ec-4fa1-9cac-77c30c18d8be"/>
    <ds:schemaRef ds:uri="b1581ffd-c9bc-45ba-97a6-d136a74a1090"/>
  </ds:schemaRefs>
</ds:datastoreItem>
</file>

<file path=customXml/itemProps3.xml><?xml version="1.0" encoding="utf-8"?>
<ds:datastoreItem xmlns:ds="http://schemas.openxmlformats.org/officeDocument/2006/customXml" ds:itemID="{042D29EA-CE15-4450-A674-ADD6848EAC5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338</Words>
  <Application>Microsoft Office PowerPoint</Application>
  <PresentationFormat>On-screen Show (4:3)</PresentationFormat>
  <Paragraphs>81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Weekly Deep Dive Meeting TechLink   Week – 5 (2026-2027)</vt:lpstr>
      <vt:lpstr>Agenda</vt:lpstr>
      <vt:lpstr>Project Summary &amp; Updates</vt:lpstr>
      <vt:lpstr>Project Summary &amp; Updates</vt:lpstr>
      <vt:lpstr>Project Summary &amp; Updates</vt:lpstr>
      <vt:lpstr>Current Focus Areas 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Mahima BM</dc:creator>
  <cp:keywords/>
  <dc:description>generated using python-pptx</dc:description>
  <cp:lastModifiedBy>Vaishnavi Gore</cp:lastModifiedBy>
  <cp:revision>33</cp:revision>
  <dcterms:created xsi:type="dcterms:W3CDTF">2013-01-27T09:14:16Z</dcterms:created>
  <dcterms:modified xsi:type="dcterms:W3CDTF">2026-03-25T02:10:59Z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0x010100104E4FED70BB7D4F88F21A6642BCD4C5</vt:lpwstr>
  </property>
</Properties>
</file>
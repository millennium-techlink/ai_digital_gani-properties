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I'm presenting our new digital roadmap. We aren't just launching a website; we are building a growth engine for Gani Properties to dominate the Bangalore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customers are online. If we aren't at the top of their search results, we are losing sales to competitors who might have inferior land but better visibility. This strategy fixes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 foundation that is faster and more interactive than anything our local competitors are using. It's built for speed and ease of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SEO is how we get 'free' customers. By ranking high on Google for terms like 'BBMP approved plots', we ensure that high-intent buyers find Gani Properties first.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the currency of real estate. When we educate the buyer on ROI and infrastructure, they are much more likely to close a deal with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optimized the funnel. A lead can submit an inquiry and have a salesperson calling them back in less than 60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just the beginning. Our architecture is built to scale into virtual reality tours and AI-driven matching as we grow.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being financially smart. We've used modern tech to keep our fixed costs at near-zero while we focus our budget on actual marketing and sales.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have a 24/7 marketing presence that reminds our audience of our value every single week.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launch, scale, and build the future of Gani Properties together. The digital landscape is ready for a leader. Gani Properties is ready to lead.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A3D"/>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FFFFFF"/>
                </a:solidFill>
              </a:defRPr>
            </a:pPr>
            <a:r>
              <a:t>Gani Properties: Digital Transformation &amp; Growth Strategy</a:t>
            </a:r>
          </a:p>
        </p:txBody>
      </p:sp>
      <p:sp>
        <p:nvSpPr>
          <p:cNvPr id="3" name="Subtitle 2"/>
          <p:cNvSpPr>
            <a:spLocks noGrp="1"/>
          </p:cNvSpPr>
          <p:nvPr>
            <p:ph type="subTitle" idx="1"/>
          </p:nvPr>
        </p:nvSpPr>
        <p:spPr/>
        <p:txBody>
          <a:bodyPr/>
          <a:lstStyle/>
          <a:p>
            <a:pPr>
              <a:defRPr>
                <a:solidFill>
                  <a:srgbClr val="FFFFFF"/>
                </a:solidFill>
              </a:defRPr>
            </a:pPr>
            <a:r>
              <a:t>Scaling for the 2026-2027 Bangalore Real Estate Market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The Digital Vision: Why Now?</a:t>
            </a:r>
          </a:p>
        </p:txBody>
      </p:sp>
      <p:sp>
        <p:nvSpPr>
          <p:cNvPr id="3" name="Content Placeholder 2"/>
          <p:cNvSpPr>
            <a:spLocks noGrp="1"/>
          </p:cNvSpPr>
          <p:nvPr>
            <p:ph idx="1"/>
          </p:nvPr>
        </p:nvSpPr>
        <p:spPr/>
        <p:txBody>
          <a:bodyPr/>
          <a:lstStyle/>
          <a:p/>
          <a:p>
            <a:pPr>
              <a:defRPr>
                <a:solidFill>
                  <a:srgbClr val="0E1B1C"/>
                </a:solidFill>
              </a:defRPr>
            </a:pPr>
            <a:r>
              <a:t>Mobile-First Market: Over 90% of buyers now start their search on a smartphone.</a:t>
            </a:r>
          </a:p>
          <a:p>
            <a:pPr>
              <a:defRPr>
                <a:solidFill>
                  <a:srgbClr val="0E1B1C"/>
                </a:solidFill>
              </a:defRPr>
            </a:pPr>
            <a:r>
              <a:t>The Digital Gap: Traditional property sites lack the brand trust and speed we provide.</a:t>
            </a:r>
          </a:p>
          <a:p>
            <a:pPr>
              <a:defRPr>
                <a:solidFill>
                  <a:srgbClr val="0E1B1C"/>
                </a:solidFill>
              </a:defRPr>
            </a:pPr>
            <a:r>
              <a:t>Our Goal: To own the digital space for residential and agricultural plots in Bangalore.</a:t>
            </a:r>
          </a:p>
          <a:p>
            <a:pPr>
              <a:defRPr>
                <a:solidFill>
                  <a:srgbClr val="0E1B1C"/>
                </a:solidFill>
              </a:defRPr>
            </a:pPr>
            <a:r>
              <a:t>Outcome: Lower lead acquisition costs and a 24/7 sales presence.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Current Capability (Ready Today)</a:t>
            </a:r>
          </a:p>
        </p:txBody>
      </p:sp>
      <p:sp>
        <p:nvSpPr>
          <p:cNvPr id="3" name="Content Placeholder 2"/>
          <p:cNvSpPr>
            <a:spLocks noGrp="1"/>
          </p:cNvSpPr>
          <p:nvPr>
            <p:ph idx="1"/>
          </p:nvPr>
        </p:nvSpPr>
        <p:spPr/>
        <p:txBody>
          <a:bodyPr/>
          <a:lstStyle/>
          <a:p/>
          <a:p>
            <a:pPr>
              <a:defRPr>
                <a:solidFill>
                  <a:srgbClr val="0E1B1C"/>
                </a:solidFill>
              </a:defRPr>
            </a:pPr>
            <a:r>
              <a:t>High-Performance UI: Ultra-fast browsing using React &amp; Vite technology.</a:t>
            </a:r>
          </a:p>
          <a:p>
            <a:pPr>
              <a:defRPr>
                <a:solidFill>
                  <a:srgbClr val="0E1B1C"/>
                </a:solidFill>
              </a:defRPr>
            </a:pPr>
            <a:r>
              <a:t>Interactive property Maps: Real-time location viewing for all plots.</a:t>
            </a:r>
          </a:p>
          <a:p>
            <a:pPr>
              <a:defRPr>
                <a:solidFill>
                  <a:srgbClr val="0E1B1C"/>
                </a:solidFill>
              </a:defRPr>
            </a:pPr>
            <a:r>
              <a:t>Smart Filtering: Instant search for Residential, Farm, and Agri Lands.</a:t>
            </a:r>
          </a:p>
          <a:p>
            <a:pPr>
              <a:defRPr>
                <a:solidFill>
                  <a:srgbClr val="0E1B1C"/>
                </a:solidFill>
              </a:defRPr>
            </a:pPr>
            <a:r>
              <a:t>Live Inventory: Showcasing projects in Chinnapannahalli, Doddaballapura, and Sidlaghatta.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SEO Strategy (Visibility)</a:t>
            </a:r>
          </a:p>
        </p:txBody>
      </p:sp>
      <p:sp>
        <p:nvSpPr>
          <p:cNvPr id="3" name="Content Placeholder 2"/>
          <p:cNvSpPr>
            <a:spLocks noGrp="1"/>
          </p:cNvSpPr>
          <p:nvPr>
            <p:ph idx="1"/>
          </p:nvPr>
        </p:nvSpPr>
        <p:spPr/>
        <p:txBody>
          <a:bodyPr/>
          <a:lstStyle/>
          <a:p/>
          <a:p>
            <a:pPr>
              <a:defRPr>
                <a:solidFill>
                  <a:srgbClr val="0E1B1C"/>
                </a:solidFill>
              </a:defRPr>
            </a:pPr>
            <a:r>
              <a:t>Target Keywords: 'Residential plots Bangalore', 'BBMP approved plots', 'Farmland in Doddaballapura'.</a:t>
            </a:r>
          </a:p>
          <a:p>
            <a:pPr>
              <a:defRPr>
                <a:solidFill>
                  <a:srgbClr val="0E1B1C"/>
                </a:solidFill>
              </a:defRPr>
            </a:pPr>
            <a:r>
              <a:t>Local Authority: Dedicated landing pages for North Bangalore (Yelahanka, Devanahalli).</a:t>
            </a:r>
          </a:p>
          <a:p>
            <a:pPr>
              <a:defRPr>
                <a:solidFill>
                  <a:srgbClr val="0E1B1C"/>
                </a:solidFill>
              </a:defRPr>
            </a:pPr>
            <a:r>
              <a:t>Technical Advantage: Automated metadata and schema markup for Google.</a:t>
            </a:r>
          </a:p>
          <a:p>
            <a:pPr>
              <a:defRPr>
                <a:solidFill>
                  <a:srgbClr val="0E1B1C"/>
                </a:solidFill>
              </a:defRPr>
            </a:pPr>
            <a:r>
              <a:t>Goal: Reach top 10 organic rankings within the first 3-6 months.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Building Trust &amp; Authority</a:t>
            </a:r>
          </a:p>
        </p:txBody>
      </p:sp>
      <p:sp>
        <p:nvSpPr>
          <p:cNvPr id="3" name="Content Placeholder 2"/>
          <p:cNvSpPr>
            <a:spLocks noGrp="1"/>
          </p:cNvSpPr>
          <p:nvPr>
            <p:ph idx="1"/>
          </p:nvPr>
        </p:nvSpPr>
        <p:spPr/>
        <p:txBody>
          <a:bodyPr/>
          <a:lstStyle/>
          <a:p/>
          <a:p>
            <a:pPr>
              <a:defRPr>
                <a:solidFill>
                  <a:srgbClr val="0E1B1C"/>
                </a:solidFill>
              </a:defRPr>
            </a:pPr>
            <a:r>
              <a:t>Infrastructure News: Keeping buyers updated on Metro lines and Ring Road developments.</a:t>
            </a:r>
          </a:p>
          <a:p>
            <a:pPr>
              <a:defRPr>
                <a:solidFill>
                  <a:srgbClr val="0E1B1C"/>
                </a:solidFill>
              </a:defRPr>
            </a:pPr>
            <a:r>
              <a:t>Neighborhood ROI Guides: Providing expert analysis on area growth trends.</a:t>
            </a:r>
          </a:p>
          <a:p>
            <a:pPr>
              <a:defRPr>
                <a:solidFill>
                  <a:srgbClr val="0E1B1C"/>
                </a:solidFill>
              </a:defRPr>
            </a:pPr>
            <a:r>
              <a:t>Local Trust: Integration with Google Business Profiles and verified location data.</a:t>
            </a:r>
          </a:p>
          <a:p>
            <a:pPr>
              <a:defRPr>
                <a:solidFill>
                  <a:srgbClr val="0E1B1C"/>
                </a:solidFill>
              </a:defRPr>
            </a:pPr>
            <a:r>
              <a:t>Expertise Positioning: Defining Gani Properties as the 'trusted advisor'.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Automation &amp; Lead Management</a:t>
            </a:r>
          </a:p>
        </p:txBody>
      </p:sp>
      <p:sp>
        <p:nvSpPr>
          <p:cNvPr id="3" name="Content Placeholder 2"/>
          <p:cNvSpPr>
            <a:spLocks noGrp="1"/>
          </p:cNvSpPr>
          <p:nvPr>
            <p:ph idx="1"/>
          </p:nvPr>
        </p:nvSpPr>
        <p:spPr/>
        <p:txBody>
          <a:bodyPr/>
          <a:lstStyle/>
          <a:p/>
          <a:p>
            <a:pPr>
              <a:defRPr>
                <a:solidFill>
                  <a:srgbClr val="0E1B1C"/>
                </a:solidFill>
              </a:defRPr>
            </a:pPr>
            <a:r>
              <a:t>Instant Alerts: Leads sent immediately to Sales Team via WhatsApp/Email.</a:t>
            </a:r>
          </a:p>
          <a:p>
            <a:pPr>
              <a:defRPr>
                <a:solidFill>
                  <a:srgbClr val="0E1B1C"/>
                </a:solidFill>
              </a:defRPr>
            </a:pPr>
            <a:r>
              <a:t>Smart Lead Filtering: Forms designed to capture high-intent buyers only.</a:t>
            </a:r>
          </a:p>
          <a:p>
            <a:pPr>
              <a:defRPr>
                <a:solidFill>
                  <a:srgbClr val="0E1B1C"/>
                </a:solidFill>
              </a:defRPr>
            </a:pPr>
            <a:r>
              <a:t>Centralized Admin: Easy dashboard to add/edit/delete properties in seconds.</a:t>
            </a:r>
          </a:p>
          <a:p>
            <a:pPr>
              <a:defRPr>
                <a:solidFill>
                  <a:srgbClr val="0E1B1C"/>
                </a:solidFill>
              </a:defRPr>
            </a:pPr>
            <a:r>
              <a:t>Zero Leakage: Every inquiry is tracked from start to finish.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Future Scaling (Roadmap 2026-27)</a:t>
            </a:r>
          </a:p>
        </p:txBody>
      </p:sp>
      <p:sp>
        <p:nvSpPr>
          <p:cNvPr id="3" name="Content Placeholder 2"/>
          <p:cNvSpPr>
            <a:spLocks noGrp="1"/>
          </p:cNvSpPr>
          <p:nvPr>
            <p:ph idx="1"/>
          </p:nvPr>
        </p:nvSpPr>
        <p:spPr/>
        <p:txBody>
          <a:bodyPr/>
          <a:lstStyle/>
          <a:p/>
          <a:p>
            <a:pPr>
              <a:defRPr>
                <a:solidFill>
                  <a:srgbClr val="0E1B1C"/>
                </a:solidFill>
              </a:defRPr>
            </a:pPr>
            <a:r>
              <a:t>360° Virtual Tours: Enabling NRI/Outstation buyers to visit sites virtually.</a:t>
            </a:r>
          </a:p>
          <a:p>
            <a:pPr>
              <a:defRPr>
                <a:solidFill>
                  <a:srgbClr val="0E1B1C"/>
                </a:solidFill>
              </a:defRPr>
            </a:pPr>
            <a:r>
              <a:t>AI Recommendation Engine: Automatically matching properties to buyer preference.</a:t>
            </a:r>
          </a:p>
          <a:p>
            <a:pPr>
              <a:defRPr>
                <a:solidFill>
                  <a:srgbClr val="0E1B1C"/>
                </a:solidFill>
              </a:defRPr>
            </a:pPr>
            <a:r>
              <a:t>Secure Document Portal: Viewing land titles securely online.</a:t>
            </a:r>
          </a:p>
          <a:p>
            <a:pPr>
              <a:defRPr>
                <a:solidFill>
                  <a:srgbClr val="0E1B1C"/>
                </a:solidFill>
              </a:defRPr>
            </a:pPr>
            <a:r>
              <a:t>Sustainability Focus: Highlighting 'Green' and solar-ready agricultural plots.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Financial ROI &amp; Cost Efficiency</a:t>
            </a:r>
          </a:p>
        </p:txBody>
      </p:sp>
      <p:sp>
        <p:nvSpPr>
          <p:cNvPr id="3" name="Content Placeholder 2"/>
          <p:cNvSpPr>
            <a:spLocks noGrp="1"/>
          </p:cNvSpPr>
          <p:nvPr>
            <p:ph idx="1"/>
          </p:nvPr>
        </p:nvSpPr>
        <p:spPr/>
        <p:txBody>
          <a:bodyPr/>
          <a:lstStyle/>
          <a:p/>
          <a:p>
            <a:pPr>
              <a:defRPr>
                <a:solidFill>
                  <a:srgbClr val="0E1B1C"/>
                </a:solidFill>
              </a:defRPr>
            </a:pPr>
            <a:r>
              <a:t>Fixed Cost Efficiency: ₹0 Monthly Hosting during initial growth phase.</a:t>
            </a:r>
          </a:p>
          <a:p>
            <a:pPr>
              <a:defRPr>
                <a:solidFill>
                  <a:srgbClr val="0E1B1C"/>
                </a:solidFill>
              </a:defRPr>
            </a:pPr>
            <a:r>
              <a:t>Cost Savings: Digital lead generation is up to 60% cheaper than print ads.</a:t>
            </a:r>
          </a:p>
          <a:p>
            <a:pPr>
              <a:defRPr>
                <a:solidFill>
                  <a:srgbClr val="0E1B1C"/>
                </a:solidFill>
              </a:defRPr>
            </a:pPr>
            <a:r>
              <a:t>Pay-as-you-Scale: Infrastructure costs only increase as revenue grows.</a:t>
            </a:r>
          </a:p>
          <a:p>
            <a:pPr>
              <a:defRPr>
                <a:solidFill>
                  <a:srgbClr val="0E1B1C"/>
                </a:solidFill>
              </a:defRPr>
            </a:pPr>
            <a:r>
              <a:t>Market Dominance: Re-investing savings into targeted Google 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Ongoing Digital Marketing</a:t>
            </a:r>
          </a:p>
        </p:txBody>
      </p:sp>
      <p:sp>
        <p:nvSpPr>
          <p:cNvPr id="3" name="Content Placeholder 2"/>
          <p:cNvSpPr>
            <a:spLocks noGrp="1"/>
          </p:cNvSpPr>
          <p:nvPr>
            <p:ph idx="1"/>
          </p:nvPr>
        </p:nvSpPr>
        <p:spPr/>
        <p:txBody>
          <a:bodyPr/>
          <a:lstStyle/>
          <a:p/>
          <a:p>
            <a:pPr>
              <a:defRPr>
                <a:solidFill>
                  <a:srgbClr val="0E1B1C"/>
                </a:solidFill>
              </a:defRPr>
            </a:pPr>
            <a:r>
              <a:t>Social Media Integration: Automated sharing of new plots to Instagram/Facebook.</a:t>
            </a:r>
          </a:p>
          <a:p>
            <a:pPr>
              <a:defRPr>
                <a:solidFill>
                  <a:srgbClr val="0E1B1C"/>
                </a:solidFill>
              </a:defRPr>
            </a:pPr>
            <a:r>
              <a:t>Google Maps Presence: Every plot pinned for easy search navigation.</a:t>
            </a:r>
          </a:p>
          <a:p>
            <a:pPr>
              <a:defRPr>
                <a:solidFill>
                  <a:srgbClr val="0E1B1C"/>
                </a:solidFill>
              </a:defRPr>
            </a:pPr>
            <a:r>
              <a:t>Targeted Newsletters: Keeping our database updated on 'New Arrivals'.</a:t>
            </a:r>
          </a:p>
          <a:p>
            <a:pPr>
              <a:defRPr>
                <a:solidFill>
                  <a:srgbClr val="0E1B1C"/>
                </a:solidFill>
              </a:defRPr>
            </a:pPr>
            <a:r>
              <a:t>Community Building: Engaging with buyers via area development blogs.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0F3A3D"/>
                </a:solidFill>
              </a:defRPr>
            </a:pPr>
            <a:r>
              <a:t>Building the Future Together</a:t>
            </a:r>
          </a:p>
        </p:txBody>
      </p:sp>
      <p:sp>
        <p:nvSpPr>
          <p:cNvPr id="3" name="Content Placeholder 2"/>
          <p:cNvSpPr>
            <a:spLocks noGrp="1"/>
          </p:cNvSpPr>
          <p:nvPr>
            <p:ph idx="1"/>
          </p:nvPr>
        </p:nvSpPr>
        <p:spPr/>
        <p:txBody>
          <a:bodyPr/>
          <a:lstStyle/>
          <a:p/>
          <a:p>
            <a:pPr>
              <a:defRPr>
                <a:solidFill>
                  <a:srgbClr val="0E1B1C"/>
                </a:solidFill>
              </a:defRPr>
            </a:pPr>
            <a:r>
              <a:t>Immediate Action: Deploy platform to live domain.</a:t>
            </a:r>
          </a:p>
          <a:p>
            <a:pPr>
              <a:defRPr>
                <a:solidFill>
                  <a:srgbClr val="0E1B1C"/>
                </a:solidFill>
              </a:defRPr>
            </a:pPr>
            <a:r>
              <a:t>Immediate Action: Submit site to Google Search Console.</a:t>
            </a:r>
          </a:p>
          <a:p>
            <a:pPr>
              <a:defRPr>
                <a:solidFill>
                  <a:srgbClr val="0E1B1C"/>
                </a:solidFill>
              </a:defRPr>
            </a:pPr>
            <a:r>
              <a:t>Immediate Action: Complete full inventory upload via dashboard.</a:t>
            </a:r>
          </a:p>
          <a:p>
            <a:pPr>
              <a:defRPr>
                <a:solidFill>
                  <a:srgbClr val="0E1B1C"/>
                </a:solidFill>
              </a:defRPr>
            </a:pPr>
            <a:r>
              <a:t>Final Vision: Dominating the digital property landscape by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